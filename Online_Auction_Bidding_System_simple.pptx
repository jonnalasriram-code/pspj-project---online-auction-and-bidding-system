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61" r:id="rId5"/>
    <p:sldId id="258" r:id="rId6"/>
    <p:sldId id="259" r:id="rId7"/>
    <p:sldId id="260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11274552" cy="475488"/>
          </a:xfr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cxnSp>
        <p:nvCxnSpPr>
          <p:cNvPr id="91" name="Title Divider"/>
          <p:cNvCxnSpPr/>
          <p:nvPr userDrawn="1"/>
        </p:nvCxnSpPr>
        <p:spPr>
          <a:xfrm>
            <a:off x="457200" y="914400"/>
            <a:ext cx="11274552" cy="0"/>
          </a:xfrm>
          <a:prstGeom prst="line">
            <a:avLst/>
          </a:prstGeom>
          <a:ln w="12700">
            <a:solidFill>
              <a:srgbClr val="1E2A63"/>
            </a:solidFill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</a:fld>
            <a:endParaRPr lang="en-IN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D4AF37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ircle Top"/>
          <p:cNvSpPr/>
          <p:nvPr/>
        </p:nvSpPr>
        <p:spPr>
          <a:xfrm>
            <a:off x="9692640" y="-1005840"/>
            <a:ext cx="3291840" cy="32918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02" name="Circle Bottom"/>
          <p:cNvSpPr/>
          <p:nvPr/>
        </p:nvSpPr>
        <p:spPr>
          <a:xfrm>
            <a:off x="10241280" y="5212080"/>
            <a:ext cx="2560320" cy="2560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03" name="Dollar Badge"/>
          <p:cNvSpPr/>
          <p:nvPr/>
        </p:nvSpPr>
        <p:spPr>
          <a:xfrm>
            <a:off x="868680" y="2651760"/>
            <a:ext cx="731520" cy="731520"/>
          </a:xfrm>
          <a:prstGeom prst="roundRect">
            <a:avLst>
              <a:gd name="adj" fmla="val 16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32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$</a:t>
            </a:r>
            <a:endParaRPr lang="en-US" sz="32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3080" y="1737360"/>
            <a:ext cx="7589520" cy="1920240"/>
          </a:xfrm>
        </p:spPr>
        <p:txBody>
          <a:bodyPr anchor="b">
            <a:normAutofit/>
          </a:bodyPr>
          <a:lstStyle/>
          <a:p>
            <a:pPr algn="l"/>
            <a:r>
              <a:rPr lang="en-US" sz="4000" b="1" i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ONLINE AUCTION &amp;</a:t>
            </a:r>
            <a:br>
              <a:rPr lang="en-US" sz="4000"/>
            </a:br>
            <a:r>
              <a:rPr lang="en-US" sz="4000" b="1" i="0" dirty="0">
                <a:solidFill>
                  <a:srgbClr val="FFFFFF"/>
                </a:solidFill>
                <a:latin typeface="Cambria" panose="02040503050406030204"/>
                <a:cs typeface="Cambria" panose="02040503050406030204"/>
              </a:rPr>
              <a:t>BIDDING SYSTEM</a:t>
            </a:r>
            <a:endParaRPr lang="en-US" sz="4000" b="1" i="0" dirty="0">
              <a:solidFill>
                <a:srgbClr val="FFFFFF"/>
              </a:solidFill>
              <a:latin typeface="Cambria" panose="02040503050406030204"/>
              <a:cs typeface="Cambria" panose="02040503050406030204"/>
            </a:endParaRPr>
          </a:p>
          <a:p>
            <a:pPr algn="l">
              <a:spcBef>
                <a:spcPts val="800"/>
              </a:spcBef>
            </a:pPr>
            <a:endParaRPr lang="en-US" sz="1800" b="0" i="1" dirty="0">
              <a:solidFill>
                <a:srgbClr val="D4AF37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3080" y="3931920"/>
            <a:ext cx="7589520" cy="1554480"/>
          </a:xfrm>
        </p:spPr>
        <p:txBody>
          <a:bodyPr anchor="t">
            <a:normAutofit/>
          </a:bodyPr>
          <a:lstStyle/>
          <a:p>
            <a:pPr algn="l"/>
            <a:r>
              <a:rPr lang="en-US" sz="1400" b="1" i="1" dirty="0">
                <a:solidFill>
                  <a:srgbClr val="D4AF37"/>
                </a:solidFill>
              </a:rPr>
              <a:t>PRESENTED BY</a:t>
            </a:r>
            <a:endParaRPr lang="en-US" sz="1400" b="1" i="1" dirty="0">
              <a:solidFill>
                <a:srgbClr val="D4AF37"/>
              </a:solidFill>
            </a:endParaRPr>
          </a:p>
          <a:p>
            <a:pPr algn="l">
              <a:spcBef>
                <a:spcPts val="300"/>
              </a:spcBef>
              <a:tabLst>
                <a:tab pos="3200400" algn="l"/>
              </a:tabLst>
            </a:pPr>
            <a:r>
              <a:rPr lang="en-US" sz="1600" b="0" i="1" dirty="0">
                <a:solidFill>
                  <a:srgbClr val="FFFFFF"/>
                </a:solidFill>
              </a:rPr>
              <a:t> Name - Sriram Reddy 	Roll No - 2620030135</a:t>
            </a:r>
            <a:endParaRPr lang="en-US" sz="1600" b="0" i="1" dirty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  <a:tabLst>
                <a:tab pos="3200400" algn="l"/>
              </a:tabLst>
            </a:pPr>
            <a:r>
              <a:rPr lang="en-US" sz="1600" b="0" i="1" dirty="0">
                <a:solidFill>
                  <a:srgbClr val="FFFFFF"/>
                </a:solidFill>
              </a:rPr>
              <a:t> Name - Sri Vyshnavi	Roll No - 2620030114</a:t>
            </a:r>
            <a:endParaRPr lang="en-US" sz="1600" b="0" i="1" dirty="0">
              <a:solidFill>
                <a:srgbClr val="FFFFFF"/>
              </a:solidFill>
            </a:endParaRPr>
          </a:p>
          <a:p>
            <a:pPr algn="l">
              <a:spcBef>
                <a:spcPts val="300"/>
              </a:spcBef>
              <a:tabLst>
                <a:tab pos="3200400" algn="l"/>
              </a:tabLst>
            </a:pPr>
            <a:r>
              <a:rPr lang="en-US" sz="1600" b="0" i="1" dirty="0">
                <a:solidFill>
                  <a:srgbClr val="FFFFFF"/>
                </a:solidFill>
              </a:rPr>
              <a:t>	</a:t>
            </a:r>
            <a:endParaRPr lang="en-US" sz="1600" b="0" i="1" dirty="0">
              <a:solidFill>
                <a:srgbClr val="FFFFFF"/>
              </a:solidFill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1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A console-based auction where the highest valid bid wins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04" name="Row Card 1"/>
          <p:cNvSpPr/>
          <p:nvPr/>
        </p:nvSpPr>
        <p:spPr>
          <a:xfrm>
            <a:off x="457200" y="1234440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Java-based online auction platform where sellers list items and buyers place live bids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5" name="Badge 1"/>
          <p:cNvSpPr/>
          <p:nvPr/>
        </p:nvSpPr>
        <p:spPr>
          <a:xfrm>
            <a:off x="658368" y="137160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6" name="Row Card 2"/>
          <p:cNvSpPr/>
          <p:nvPr/>
        </p:nvSpPr>
        <p:spPr>
          <a:xfrm>
            <a:off x="457200" y="2350008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Automates bid validation, highest-bid tracking, auction closing and winner selection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7" name="Badge 2"/>
          <p:cNvSpPr/>
          <p:nvPr/>
        </p:nvSpPr>
        <p:spPr>
          <a:xfrm>
            <a:off x="658368" y="2487168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8" name="Row Card 3"/>
          <p:cNvSpPr/>
          <p:nvPr/>
        </p:nvSpPr>
        <p:spPr>
          <a:xfrm>
            <a:off x="457200" y="3465576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Built with the six course modules: foundations, control flow, methods, OOP, file I/O and collections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09" name="Badge 3"/>
          <p:cNvSpPr/>
          <p:nvPr/>
        </p:nvSpPr>
        <p:spPr>
          <a:xfrm>
            <a:off x="658368" y="3602736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0" name="Row Card 4"/>
          <p:cNvSpPr/>
          <p:nvPr/>
        </p:nvSpPr>
        <p:spPr>
          <a:xfrm>
            <a:off x="457200" y="458114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Replaces manual, error-prone auctions with a fast, fair and transparent system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1" name="Badge 4"/>
          <p:cNvSpPr/>
          <p:nvPr/>
        </p:nvSpPr>
        <p:spPr>
          <a:xfrm>
            <a:off x="658368" y="4718304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Problem Statement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21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Why an automated bidding system is needed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13" name="Row Card 1"/>
          <p:cNvSpPr/>
          <p:nvPr/>
        </p:nvSpPr>
        <p:spPr>
          <a:xfrm>
            <a:off x="457200" y="1234440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Traditional auctions need physical presence, are slow and hard to audit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4" name="Badge 1"/>
          <p:cNvSpPr/>
          <p:nvPr/>
        </p:nvSpPr>
        <p:spPr>
          <a:xfrm>
            <a:off x="658368" y="137160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5" name="Row Card 2"/>
          <p:cNvSpPr/>
          <p:nvPr/>
        </p:nvSpPr>
        <p:spPr>
          <a:xfrm>
            <a:off x="457200" y="2350008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Manual bid tracking causes errors, disputes and unfair winner selection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6" name="Badge 2"/>
          <p:cNvSpPr/>
          <p:nvPr/>
        </p:nvSpPr>
        <p:spPr>
          <a:xfrm>
            <a:off x="658368" y="2487168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7" name="Row Card 3"/>
          <p:cNvSpPr/>
          <p:nvPr/>
        </p:nvSpPr>
        <p:spPr>
          <a:xfrm>
            <a:off x="457200" y="3465576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Need: validate bids, enforce the increment rule, handle invalid input and keep records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18" name="Badge 3"/>
          <p:cNvSpPr/>
          <p:nvPr/>
        </p:nvSpPr>
        <p:spPr>
          <a:xfrm>
            <a:off x="658368" y="3602736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19" name="Row Card 4"/>
          <p:cNvSpPr/>
          <p:nvPr/>
        </p:nvSpPr>
        <p:spPr>
          <a:xfrm>
            <a:off x="457200" y="4581144"/>
            <a:ext cx="11274552" cy="91440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Goal: a reliable console application for users, items, bids and results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0" name="Badge 4"/>
          <p:cNvSpPr/>
          <p:nvPr/>
        </p:nvSpPr>
        <p:spPr>
          <a:xfrm>
            <a:off x="658368" y="4718304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1: Computational Thinking &amp; Java Foundations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Decompose: users, items, bids, winner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Algorithm: register → list → bid → close → winner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Data types: int, double, boolean, String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Scanner for input, printf for output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37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Algorithm design, data types, Scanner input and the main() skeleton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29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30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1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31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2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33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4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5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36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Data types: int (item id), double (prices), boolean (running / open flag), String (names)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Scanner for keyboard input, System.out.printf for formatted output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Algorithm: register → list item → place bids → close → winner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main() entry point with a loop that keeps the program running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Decomposing the problem first keeps the design simple: users, items, bids, winner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Correct data types avoid rounding and logic errors (money needs double, flags need boolean)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Scanner/printf give a clear, aligned console interface without any GUI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2: Control Flow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switch drives the main menu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if / else validates every request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while loop keeps the app running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for loop prints every item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46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switch, if / else and loops drive the menu and validation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38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39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2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40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1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2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3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4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45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switch statement to route each menu choice to a feature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if / else to validate roles, item ids and empty lists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while loop to keep showing the menu until Exit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for loop to print every item in the table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switch is cleaner and faster to read than many if-else chains for a fixed menu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if / else stops invalid requests before they change auction data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Loops let users do many actions in one run and avoid repeating code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3: Methods, Recursion &amp; Arrays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Methods split the work into small pieces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Recursion: readPrice() retries bad input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Overloading: findItem(int) and findItem(String)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Array: CATEGORIES for item types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55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Methods, recursion and arrays split the work into reusable pieces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47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48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3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49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0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1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2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3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4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Methods: register(), listItem(), placeBid(), closeAuction() each do one job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Recursion: readPrice() calls itself until a valid positive number is entered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Overloading: findItem(int id) and findItem(String name)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Array: CATEGORIES = {Art, Electronics, Books, Other}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Small methods are reusable, easier to test and easier to debug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Recursion gives simple retry-on-bad-input without a messy loop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Overloading lets one concept (find an item) work with different inputs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A fixed array suits a short list of categories that never changes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4: OOP &amp; Exception Handling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Classes: User, Seller, Bidder, Bid, Item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Inheritance with abstract role()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Encapsulation: private name + getName()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Custom checked exceptions for bid rules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64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Classes, inheritance, encapsulation and custom exceptions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56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04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57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4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58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59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0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1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2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3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Classes: User (abstract), Seller, Bidder, Bid, Item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Inheritance and abstract role() with polymorphism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Encapsulation: private name with getName()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Custom checked exceptions: AuctionException, InvalidBidException, AuctionClosedException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Classes model real-world objects, so the code mirrors the auction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Inheritance shares common user code; polymorphism lets each role behave differently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Encapsulation protects data from accidental change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Custom exceptions enforce bid rules (minimum increment, closed auction) and give clear error messages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Module 5: Strings, Algorithms &amp; File I/O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Strings: regex validates usernames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Insertion sort ranks items by bid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File I/O: save and load auction.txt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try-with-resources closes files safely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73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Regex validation, insertion sort and saving data to a file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65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05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66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5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67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68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9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0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1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2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String.matches() with regex [A-Za-z][A-Za-z0-9_]{2,15} to validate usernames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Insertion sort to rank items by highest bid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File I/O: PrintWriter / FileWriter to save, BufferedReader / FileReader to load auction.txt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try-with-resources to close files automatically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Regex rejects bad or unsafe names in a single line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Sorting shows the hottest items first; insertion sort is simple for small lists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File I/O keeps data after the program exits, so the auction is not lost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try-with-resources prevents resource leaks even when an error occurs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Module 6: Collections, Functional Programming &amp; Streams</a:t>
            </a:r>
            <a:endParaRPr lang="en-IN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24128"/>
            <a:ext cx="3108960" cy="5330952"/>
          </a:xfrm>
          <a:prstGeom prst="roundRect">
            <a:avLst>
              <a:gd name="adj" fmla="val 4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lIns="228600" tIns="1143000" rIns="182880" bIns="182880" anchor="t">
            <a:normAutofit/>
          </a:bodyPr>
          <a:lstStyle/>
          <a:p>
            <a:pPr>
              <a:spcBef>
                <a:spcPts val="1400"/>
              </a:spcBef>
            </a:pPr>
            <a:r>
              <a:rPr lang="en-IN" sz="1800" dirty="0"/>
              <a:t>LinkedHashMap and HashMap hold items and users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Streams find the winner and the counts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Lambdas + Comparator for sorting</a:t>
            </a:r>
            <a:endParaRPr lang="en-IN" sz="1800" dirty="0"/>
          </a:p>
          <a:p>
            <a:pPr>
              <a:spcBef>
                <a:spcPts val="1400"/>
              </a:spcBef>
            </a:pPr>
            <a:r>
              <a:rPr lang="en-IN" sz="1800" dirty="0"/>
              <a:t>Optional handles items with no bids</a:t>
            </a: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Maps, streams, lambdas and Optional pick the winner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4" name="Module Badge"/>
          <p:cNvSpPr/>
          <p:nvPr/>
        </p:nvSpPr>
        <p:spPr>
          <a:xfrm>
            <a:off x="685800" y="1298448"/>
            <a:ext cx="685800" cy="68580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4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06</a:t>
            </a:r>
            <a:endParaRPr lang="en-US" sz="24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75" name="Module Label"/>
          <p:cNvSpPr/>
          <p:nvPr/>
        </p:nvSpPr>
        <p:spPr>
          <a:xfrm>
            <a:off x="1508760" y="1298448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n-US" sz="1200" b="1" i="1" dirty="0">
                <a:solidFill>
                  <a:srgbClr val="D4AF37"/>
                </a:solidFill>
              </a:rPr>
              <a:t>MODULE 6 OF 6</a:t>
            </a:r>
            <a:endParaRPr lang="en-US" sz="1200" b="1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3749040" y="1024128"/>
            <a:ext cx="798271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3749040" y="1024128"/>
            <a:ext cx="798271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Why &amp; What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390448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410565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430682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1" name="Code"/>
          <p:cNvSpPr/>
          <p:nvPr/>
        </p:nvSpPr>
        <p:spPr>
          <a:xfrm>
            <a:off x="3794760" y="1362456"/>
            <a:ext cx="7891272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WHAT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LinkedHashMap for items (keeps listing order) and HashMap for users (fast lookup by name)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Streams + Comparator.max() to find the winning bid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Collectors.groupingBy, lambdas and merge() for statistics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Optional to handle items that have no bids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2200" b="1">
                <a:solidFill>
                  <a:srgbClr val="9DB7FF"/>
                </a:solidFill>
                <a:latin typeface="Calibri" panose="020F0502020204030204"/>
              </a:rPr>
              <a:t>WHY it is used</a:t>
            </a:r>
            <a:endParaRPr sz="2200" b="1">
              <a:solidFill>
                <a:srgbClr val="9DB7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Maps give fast lookup by id or name instead of scanning lists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Streams and lambdas make the winner and statistics short and readable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  <a:p>
            <a:pPr>
              <a:spcAft>
                <a:spcPts val="500"/>
              </a:spcAft>
            </a:pPr>
            <a:r>
              <a:rPr sz="1900">
                <a:solidFill>
                  <a:srgbClr val="F2F5FF"/>
                </a:solidFill>
                <a:latin typeface="Calibri" panose="020F0502020204030204"/>
              </a:rPr>
              <a:t>•  Optional avoids NullPointerException when nobody bid - shows "unsold" safely</a:t>
            </a:r>
            <a:endParaRPr sz="1900">
              <a:solidFill>
                <a:srgbClr val="F2F5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200" dirty="0"/>
              <a:t>Complete Program Code</a:t>
            </a:r>
            <a:endParaRPr lang="en-IN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82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The whole auction system in one small, runnable Java file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76" name="Code Window"/>
          <p:cNvSpPr/>
          <p:nvPr/>
        </p:nvSpPr>
        <p:spPr>
          <a:xfrm>
            <a:off x="457200" y="987298"/>
            <a:ext cx="11274552" cy="5330952"/>
          </a:xfrm>
          <a:prstGeom prst="roundRect">
            <a:avLst>
              <a:gd name="adj" fmla="val 2200"/>
            </a:avLst>
          </a:prstGeom>
          <a:solidFill>
            <a:srgbClr val="0F1740"/>
          </a:solidFill>
          <a:ln w="12700">
            <a:solidFill>
              <a:srgbClr val="1E2A63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7" name="Code Title Bar"/>
          <p:cNvSpPr/>
          <p:nvPr/>
        </p:nvSpPr>
        <p:spPr>
          <a:xfrm>
            <a:off x="457200" y="1024128"/>
            <a:ext cx="11274552" cy="301752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E2761"/>
          </a:solidFill>
          <a:ln>
            <a:noFill/>
          </a:ln>
        </p:spPr>
        <p:txBody>
          <a:bodyPr wrap="square" lIns="914400" tIns="0" rIns="91440" bIns="0" anchor="ctr">
            <a:noAutofit/>
          </a:bodyPr>
          <a:lstStyle/>
          <a:p>
            <a:pPr algn="l"/>
            <a:r>
              <a:rPr lang="en-US" sz="900" b="0" i="0" dirty="0">
                <a:solidFill>
                  <a:srgbClr val="8C9BD6"/>
                </a:solidFill>
                <a:latin typeface="Courier New" panose="02070309020205020404"/>
                <a:cs typeface="Courier New" panose="02070309020205020404"/>
              </a:rPr>
              <a:t>AuctionSystem.java</a:t>
            </a:r>
            <a:endParaRPr lang="en-US" sz="900" b="0" i="0" dirty="0">
              <a:solidFill>
                <a:srgbClr val="8C9BD6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78" name="Dot 1"/>
          <p:cNvSpPr/>
          <p:nvPr/>
        </p:nvSpPr>
        <p:spPr>
          <a:xfrm>
            <a:off x="612648" y="1115568"/>
            <a:ext cx="118872" cy="118872"/>
          </a:xfrm>
          <a:prstGeom prst="ellipse">
            <a:avLst/>
          </a:prstGeom>
          <a:solidFill>
            <a:srgbClr val="EB575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79" name="Dot 2"/>
          <p:cNvSpPr/>
          <p:nvPr/>
        </p:nvSpPr>
        <p:spPr>
          <a:xfrm>
            <a:off x="813816" y="1115568"/>
            <a:ext cx="118872" cy="118872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0" name="Dot 3"/>
          <p:cNvSpPr/>
          <p:nvPr/>
        </p:nvSpPr>
        <p:spPr>
          <a:xfrm>
            <a:off x="1014984" y="1115568"/>
            <a:ext cx="118872" cy="118872"/>
          </a:xfrm>
          <a:prstGeom prst="ellipse">
            <a:avLst/>
          </a:prstGeom>
          <a:solidFill>
            <a:srgbClr val="6FCF9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endParaRPr lang="en-US"/>
          </a:p>
        </p:txBody>
      </p:sp>
      <p:sp>
        <p:nvSpPr>
          <p:cNvPr id="181" name="Code"/>
          <p:cNvSpPr/>
          <p:nvPr/>
        </p:nvSpPr>
        <p:spPr>
          <a:xfrm>
            <a:off x="594360" y="1362456"/>
            <a:ext cx="5431536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import java.util.*;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public class AuctionSystem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Scanner sc = new Scanner(System.in);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ArrayList&lt;Item&gt; items = new ArrayList&lt;&gt;();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class Item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String name, bidder = "nobody";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double price;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boolean open = true;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Item(String n, double p) { name = n; price = p;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void addItem()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System.out.print("Item name: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String name = sc.next();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System.out.print("Starting price: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double price = sc.nextDouble();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items.add(new Item(name, price));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System.out.println("Added. Item id = " + items.size());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Item getItem()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System.out.print("Item id: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int id = sc.nextInt();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if (id &lt; 1 || id &gt; items.size())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System.out.println("No such item");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return null;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return items.get(id - 1);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static void placeBid()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Item item = getItem();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if (item == null) return;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if (!item.open) { System.out.println("Auction is closed"); return;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System.out.print("Your name: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String who = sc.next();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System.out.print("Your bid: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double bid = sc.nextDouble();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if (bid &gt; item.price)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item.price = bid;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item.bidder = who;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System.out.println("Bid accepted!");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} else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        System.out.println("Bid must be higher than " + item.price);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9DB7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</p:txBody>
      </p:sp>
      <p:sp>
        <p:nvSpPr>
          <p:cNvPr id="3" name="Code"/>
          <p:cNvSpPr/>
          <p:nvPr/>
        </p:nvSpPr>
        <p:spPr>
          <a:xfrm>
            <a:off x="6163056" y="1362456"/>
            <a:ext cx="5431536" cy="49560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54864" rIns="54864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static void showItems()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for (int i = 0; i &lt; items.size(); i++)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Item it = items.get(i);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System.out.println((i + 1) + ". " + it.name + "  price: "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+ it.price + "  " + (it.open ? "OPEN" : "CLOSED"));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static void closeAuction()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Item item = getItem();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if (item == null) return;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item.open = false;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if (item.bidder.equals("nobody"))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System.out.println("No bids - item unsold");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else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System.out.println("Winner: " + item.bidder + " with " + item.price);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public static void main(String[] args)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while (true)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System.out.print("\n1.Add 2.Bid 3.Show 4.Close 0.Exit: 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int choice = sc.nextInt();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switch (choice) {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1: addItem(); break;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2: placeBid(); break;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3: showItems(); break;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4: closeAuction(); break;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case 0: return;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    default: System.out.println("Invalid choice");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    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>
                <a:solidFill>
                  <a:srgbClr val="F2F5FF"/>
                </a:solidFill>
                <a:latin typeface="Courier New" panose="02070309020205020404"/>
              </a:rPr>
              <a:t>}</a:t>
            </a:r>
            <a:endParaRPr sz="750">
              <a:solidFill>
                <a:srgbClr val="F2F5FF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z="900">
                <a:solidFill>
                  <a:srgbClr val="8C9BD6"/>
                </a:solidFill>
              </a:rPr>
              <a:t>Online Auction &amp; Bidding System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z="900" smtClean="0">
                <a:solidFill>
                  <a:srgbClr val="8C9BD6"/>
                </a:solidFill>
              </a:rPr>
            </a:fld>
            <a:endParaRPr lang="en-IN"/>
          </a:p>
        </p:txBody>
      </p:sp>
      <p:sp>
        <p:nvSpPr>
          <p:cNvPr id="128" name="Subtitle"/>
          <p:cNvSpPr/>
          <p:nvPr/>
        </p:nvSpPr>
        <p:spPr>
          <a:xfrm>
            <a:off x="457200" y="566928"/>
            <a:ext cx="11274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>
            <a:noAutofit/>
          </a:bodyPr>
          <a:lstStyle/>
          <a:p>
            <a:pPr algn="l"/>
            <a:r>
              <a:rPr lang="en-US" sz="1400" b="0" i="1" dirty="0">
                <a:solidFill>
                  <a:srgbClr val="D4AF37"/>
                </a:solidFill>
              </a:rPr>
              <a:t>What was achieved and where it can go next</a:t>
            </a:r>
            <a:endParaRPr lang="en-US" sz="1400" b="0" i="1" dirty="0">
              <a:solidFill>
                <a:srgbClr val="D4AF37"/>
              </a:solidFill>
            </a:endParaRPr>
          </a:p>
        </p:txBody>
      </p:sp>
      <p:sp>
        <p:nvSpPr>
          <p:cNvPr id="122" name="Row Card 1"/>
          <p:cNvSpPr/>
          <p:nvPr/>
        </p:nvSpPr>
        <p:spPr>
          <a:xfrm>
            <a:off x="457200" y="12344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Delivered a working online auction and bidding system in Java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3" name="Badge 1"/>
          <p:cNvSpPr/>
          <p:nvPr/>
        </p:nvSpPr>
        <p:spPr>
          <a:xfrm>
            <a:off x="658368" y="14630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01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4" name="Row Card 2"/>
          <p:cNvSpPr/>
          <p:nvPr/>
        </p:nvSpPr>
        <p:spPr>
          <a:xfrm>
            <a:off x="457200" y="26060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Applied all six modules, from fundamentals to collections and streams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5" name="Badge 2"/>
          <p:cNvSpPr/>
          <p:nvPr/>
        </p:nvSpPr>
        <p:spPr>
          <a:xfrm>
            <a:off x="658368" y="28346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02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26" name="Row Card 3"/>
          <p:cNvSpPr/>
          <p:nvPr/>
        </p:nvSpPr>
        <p:spPr>
          <a:xfrm>
            <a:off x="457200" y="3977640"/>
            <a:ext cx="11274552" cy="1097280"/>
          </a:xfrm>
          <a:prstGeom prst="roundRect">
            <a:avLst>
              <a:gd name="adj" fmla="val 9000"/>
            </a:avLst>
          </a:prstGeom>
          <a:solidFill>
            <a:srgbClr val="16204F"/>
          </a:solidFill>
          <a:ln w="12700">
            <a:solidFill>
              <a:srgbClr val="1E2A63"/>
            </a:solidFill>
          </a:ln>
        </p:spPr>
        <p:txBody>
          <a:bodyPr wrap="square" lIns="1234440" tIns="45720" rIns="274320" bIns="45720" anchor="ctr">
            <a:noAutofit/>
          </a:bodyPr>
          <a:lstStyle/>
          <a:p>
            <a:pPr algn="l"/>
            <a:r>
              <a:rPr lang="en-US" sz="1800" b="0" i="0" dirty="0">
                <a:solidFill>
                  <a:srgbClr val="FFFFFF"/>
                </a:solidFill>
              </a:rPr>
              <a:t>Future scope: GUI or web front end, database storage, payments, real-time notifications</a:t>
            </a:r>
            <a:endParaRPr lang="en-US" sz="1800" b="0" i="0" dirty="0">
              <a:solidFill>
                <a:srgbClr val="FFFFFF"/>
              </a:solidFill>
            </a:endParaRPr>
          </a:p>
        </p:txBody>
      </p:sp>
      <p:sp>
        <p:nvSpPr>
          <p:cNvPr id="127" name="Badge 3"/>
          <p:cNvSpPr/>
          <p:nvPr/>
        </p:nvSpPr>
        <p:spPr>
          <a:xfrm>
            <a:off x="658368" y="4206240"/>
            <a:ext cx="640080" cy="640080"/>
          </a:xfrm>
          <a:prstGeom prst="roundRect">
            <a:avLst>
              <a:gd name="adj" fmla="val 14000"/>
            </a:avLst>
          </a:prstGeom>
          <a:solidFill>
            <a:srgbClr val="D4AF37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en-US" sz="2000" b="1" i="0" dirty="0">
                <a:solidFill>
                  <a:srgbClr val="0B1130"/>
                </a:solidFill>
                <a:latin typeface="Cambria" panose="02040503050406030204"/>
                <a:cs typeface="Cambria" panose="02040503050406030204"/>
              </a:rPr>
              <a:t>03</a:t>
            </a:r>
            <a:endParaRPr lang="en-US" sz="2000" b="1" i="0" dirty="0">
              <a:solidFill>
                <a:srgbClr val="0B1130"/>
              </a:solidFill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1130"/>
      </a:dk1>
      <a:lt1>
        <a:srgbClr val="FFFFFF"/>
      </a:lt1>
      <a:dk2>
        <a:srgbClr val="16204F"/>
      </a:dk2>
      <a:lt2>
        <a:srgbClr val="CADCFC"/>
      </a:lt2>
      <a:accent1>
        <a:srgbClr val="D4AF37"/>
      </a:accent1>
      <a:accent2>
        <a:srgbClr val="8C9BD6"/>
      </a:accent2>
      <a:accent3>
        <a:srgbClr val="6FCF97"/>
      </a:accent3>
      <a:accent4>
        <a:srgbClr val="EB5757"/>
      </a:accent4>
      <a:accent5>
        <a:srgbClr val="CADCFC"/>
      </a:accent5>
      <a:accent6>
        <a:srgbClr val="1E2761"/>
      </a:accent6>
      <a:hlink>
        <a:srgbClr val="467886"/>
      </a:hlink>
      <a:folHlink>
        <a:srgbClr val="96607D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9942</Words>
  <Application>WPS Presentation</Application>
  <PresentationFormat>Widescreen</PresentationFormat>
  <Paragraphs>350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Cambria</vt:lpstr>
      <vt:lpstr>Courier New</vt:lpstr>
      <vt:lpstr>Calibri</vt:lpstr>
      <vt:lpstr>Microsoft YaHei</vt:lpstr>
      <vt:lpstr>Arial Unicode MS</vt:lpstr>
      <vt:lpstr>Aptos</vt:lpstr>
      <vt:lpstr>Segoe UI</vt:lpstr>
      <vt:lpstr>Calibri</vt:lpstr>
      <vt:lpstr>Cambria</vt:lpstr>
      <vt:lpstr>Office Theme</vt:lpstr>
      <vt:lpstr>Team No</vt:lpstr>
      <vt:lpstr>Abstract</vt:lpstr>
      <vt:lpstr>Understanding Problem Statement</vt:lpstr>
      <vt:lpstr>Module 1: Computational Thinking &amp; Java Foundations</vt:lpstr>
      <vt:lpstr>Module 2: Control Flow</vt:lpstr>
      <vt:lpstr>Module 3: Methods, Recursion &amp; Arrays</vt:lpstr>
      <vt:lpstr>Module 4: OOP &amp; Exception Handling</vt:lpstr>
      <vt:lpstr>Module 5: Strings, Algorithms &amp; File I/O</vt:lpstr>
      <vt:lpstr>Module 6: Collections, Functional Programming &amp; Streams</vt:lpstr>
      <vt:lpstr>Complete Program Code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Sriram Reddy</cp:lastModifiedBy>
  <cp:revision>4</cp:revision>
  <dcterms:created xsi:type="dcterms:W3CDTF">2026-09-15T09:57:00Z</dcterms:created>
  <dcterms:modified xsi:type="dcterms:W3CDTF">2026-10-15T12:20:37Z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ACEA0585D8C5485787AE1D92617A59B7_12</vt:lpwstr>
  </property>
  <property fmtid="{D5CDD505-2E9C-101B-9397-08002B2CF9AE}" pid="3" name="KSOProductBuildVer">
    <vt:lpwstr>2057-12.2.0.23206</vt:lpwstr>
  </property>
</Properties>
</file>